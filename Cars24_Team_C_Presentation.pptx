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4630400" cy="8229600"/>
  <p:notesSz cx="8229600" cy="14630400"/>
  <p:embeddedFontLst>
    <p:embeddedFont>
      <p:font typeface="Alexandria Medium" pitchFamily="2" charset="-78"/>
      <p:regular r:id="rId16"/>
    </p:embeddedFont>
    <p:embeddedFont>
      <p:font typeface="Consolas" panose="02000000000000000000" pitchFamily="2" charset="0"/>
      <p:regular r:id="rId17"/>
      <p:bold r:id="rId18"/>
      <p:italic r:id="rId19"/>
      <p:boldItalic r:id="rId20"/>
    </p:embeddedFont>
    <p:embeddedFont>
      <p:font typeface="Manrope" pitchFamily="2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7" d="100"/>
          <a:sy n="57" d="100"/>
        </p:scale>
        <p:origin x="80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font" Target="fonts/font3.fntdata" /><Relationship Id="rId3" Type="http://schemas.openxmlformats.org/officeDocument/2006/relationships/slide" Target="slides/slide2.xml" /><Relationship Id="rId21" Type="http://schemas.openxmlformats.org/officeDocument/2006/relationships/font" Target="fonts/font6.fntdata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font" Target="fonts/font2.fntdata" /><Relationship Id="rId25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font" Target="fonts/font1.fntdata" /><Relationship Id="rId20" Type="http://schemas.openxmlformats.org/officeDocument/2006/relationships/font" Target="fonts/font5.fntdata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theme" Target="theme/theme1.xml" /><Relationship Id="rId5" Type="http://schemas.openxmlformats.org/officeDocument/2006/relationships/slide" Target="slides/slide4.xml" /><Relationship Id="rId15" Type="http://schemas.openxmlformats.org/officeDocument/2006/relationships/notesMaster" Target="notesMasters/notesMaster1.xml" /><Relationship Id="rId23" Type="http://schemas.openxmlformats.org/officeDocument/2006/relationships/viewProps" Target="viewProps.xml" /><Relationship Id="rId10" Type="http://schemas.openxmlformats.org/officeDocument/2006/relationships/slide" Target="slides/slide9.xml" /><Relationship Id="rId19" Type="http://schemas.openxmlformats.org/officeDocument/2006/relationships/font" Target="fonts/font4.fntdata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4350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4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9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 /><Relationship Id="rId13" Type="http://schemas.openxmlformats.org/officeDocument/2006/relationships/image" Target="../media/image14.png" /><Relationship Id="rId3" Type="http://schemas.openxmlformats.org/officeDocument/2006/relationships/image" Target="../media/image4.png" /><Relationship Id="rId7" Type="http://schemas.openxmlformats.org/officeDocument/2006/relationships/image" Target="../media/image8.png" /><Relationship Id="rId12" Type="http://schemas.openxmlformats.org/officeDocument/2006/relationships/image" Target="../media/image13.png" /><Relationship Id="rId17" Type="http://schemas.openxmlformats.org/officeDocument/2006/relationships/image" Target="../media/image18.svg" /><Relationship Id="rId2" Type="http://schemas.openxmlformats.org/officeDocument/2006/relationships/notesSlide" Target="../notesSlides/notesSlide2.xml" /><Relationship Id="rId16" Type="http://schemas.openxmlformats.org/officeDocument/2006/relationships/image" Target="../media/image17.png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7.png" /><Relationship Id="rId11" Type="http://schemas.openxmlformats.org/officeDocument/2006/relationships/image" Target="../media/image12.svg" /><Relationship Id="rId5" Type="http://schemas.openxmlformats.org/officeDocument/2006/relationships/image" Target="../media/image6.svg" /><Relationship Id="rId15" Type="http://schemas.openxmlformats.org/officeDocument/2006/relationships/image" Target="../media/image16.png" /><Relationship Id="rId10" Type="http://schemas.openxmlformats.org/officeDocument/2006/relationships/image" Target="../media/image11.png" /><Relationship Id="rId4" Type="http://schemas.openxmlformats.org/officeDocument/2006/relationships/image" Target="../media/image5.png" /><Relationship Id="rId9" Type="http://schemas.openxmlformats.org/officeDocument/2006/relationships/image" Target="../media/image10.png" /><Relationship Id="rId14" Type="http://schemas.openxmlformats.org/officeDocument/2006/relationships/image" Target="../media/image15.svg" 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 /><Relationship Id="rId3" Type="http://schemas.openxmlformats.org/officeDocument/2006/relationships/image" Target="../media/image19.png" /><Relationship Id="rId7" Type="http://schemas.openxmlformats.org/officeDocument/2006/relationships/image" Target="../media/image23.sv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22.png" /><Relationship Id="rId5" Type="http://schemas.openxmlformats.org/officeDocument/2006/relationships/image" Target="../media/image21.svg" /><Relationship Id="rId4" Type="http://schemas.openxmlformats.org/officeDocument/2006/relationships/image" Target="../media/image20.png" /><Relationship Id="rId9" Type="http://schemas.openxmlformats.org/officeDocument/2006/relationships/image" Target="../media/image25.svg" 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 /><Relationship Id="rId13" Type="http://schemas.openxmlformats.org/officeDocument/2006/relationships/image" Target="../media/image36.png" /><Relationship Id="rId3" Type="http://schemas.openxmlformats.org/officeDocument/2006/relationships/image" Target="../media/image26.png" /><Relationship Id="rId7" Type="http://schemas.openxmlformats.org/officeDocument/2006/relationships/image" Target="../media/image30.png" /><Relationship Id="rId12" Type="http://schemas.openxmlformats.org/officeDocument/2006/relationships/image" Target="../media/image35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29.png" /><Relationship Id="rId11" Type="http://schemas.openxmlformats.org/officeDocument/2006/relationships/image" Target="../media/image34.svg" /><Relationship Id="rId5" Type="http://schemas.openxmlformats.org/officeDocument/2006/relationships/image" Target="../media/image28.svg" /><Relationship Id="rId10" Type="http://schemas.openxmlformats.org/officeDocument/2006/relationships/image" Target="../media/image33.png" /><Relationship Id="rId4" Type="http://schemas.openxmlformats.org/officeDocument/2006/relationships/image" Target="../media/image27.png" /><Relationship Id="rId9" Type="http://schemas.openxmlformats.org/officeDocument/2006/relationships/image" Target="../media/image32.png" /><Relationship Id="rId14" Type="http://schemas.openxmlformats.org/officeDocument/2006/relationships/image" Target="../media/image37.sv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40.png" /><Relationship Id="rId4" Type="http://schemas.openxmlformats.org/officeDocument/2006/relationships/image" Target="../media/image39.pn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42.pn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46.png" /><Relationship Id="rId5" Type="http://schemas.openxmlformats.org/officeDocument/2006/relationships/image" Target="../media/image45.png" /><Relationship Id="rId4" Type="http://schemas.openxmlformats.org/officeDocument/2006/relationships/image" Target="../media/image44.pn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50.png" /><Relationship Id="rId4" Type="http://schemas.openxmlformats.org/officeDocument/2006/relationships/image" Target="../media/image49.png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3.xml" /><Relationship Id="rId4" Type="http://schemas.openxmlformats.org/officeDocument/2006/relationships/image" Target="../media/image52.png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56.png" /><Relationship Id="rId4" Type="http://schemas.openxmlformats.org/officeDocument/2006/relationships/image" Target="../media/image55.png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05442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Cars24 Used Car Price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8121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From web scraping to actionable market insights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447" y="726281"/>
            <a:ext cx="5146477" cy="643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Meet the Team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447" y="1781294"/>
            <a:ext cx="13189506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Our dedicated team of experts collaborated to deliver this comprehensive analysis.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20447" y="2342198"/>
            <a:ext cx="4259223" cy="2477572"/>
          </a:xfrm>
          <a:prstGeom prst="roundRect">
            <a:avLst>
              <a:gd name="adj" fmla="val 12463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926" y="2555677"/>
            <a:ext cx="617577" cy="617577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3709" y="2725460"/>
            <a:ext cx="277892" cy="27789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33926" y="3379113"/>
            <a:ext cx="2573179" cy="32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Web Scraping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933926" y="3824168"/>
            <a:ext cx="3832265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Anand Raj (Team Lead)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933926" y="4276963"/>
            <a:ext cx="3832265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Atharv Kakade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5185529" y="2342198"/>
            <a:ext cx="4259223" cy="2477572"/>
          </a:xfrm>
          <a:prstGeom prst="roundRect">
            <a:avLst>
              <a:gd name="adj" fmla="val 12463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9008" y="2555677"/>
            <a:ext cx="617577" cy="617577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68791" y="2725460"/>
            <a:ext cx="277892" cy="27789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399008" y="3379113"/>
            <a:ext cx="3398877" cy="32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Data Analysing &amp; Cleaning</a:t>
            </a:r>
            <a:endParaRPr lang="en-US" sz="2000" dirty="0"/>
          </a:p>
        </p:txBody>
      </p:sp>
      <p:sp>
        <p:nvSpPr>
          <p:cNvPr id="14" name="Text 8"/>
          <p:cNvSpPr/>
          <p:nvPr/>
        </p:nvSpPr>
        <p:spPr>
          <a:xfrm>
            <a:off x="5399008" y="3824168"/>
            <a:ext cx="3832265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Siddhesh Mali (Co Lead)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5399008" y="4276963"/>
            <a:ext cx="3832265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Abhishek Mishra</a:t>
            </a:r>
            <a:endParaRPr lang="en-US" sz="1600" dirty="0"/>
          </a:p>
        </p:txBody>
      </p:sp>
      <p:sp>
        <p:nvSpPr>
          <p:cNvPr id="16" name="Shape 10"/>
          <p:cNvSpPr/>
          <p:nvPr/>
        </p:nvSpPr>
        <p:spPr>
          <a:xfrm>
            <a:off x="9650611" y="2342198"/>
            <a:ext cx="4259223" cy="2477572"/>
          </a:xfrm>
          <a:prstGeom prst="roundRect">
            <a:avLst>
              <a:gd name="adj" fmla="val 12463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64090" y="2555677"/>
            <a:ext cx="617577" cy="617577"/>
          </a:xfrm>
          <a:prstGeom prst="rect">
            <a:avLst/>
          </a:prstGeom>
        </p:spPr>
      </p:pic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033873" y="2725460"/>
            <a:ext cx="277892" cy="27789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9864090" y="3379113"/>
            <a:ext cx="2573179" cy="32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Data Visualisation</a:t>
            </a:r>
            <a:endParaRPr lang="en-US" sz="2000" dirty="0"/>
          </a:p>
        </p:txBody>
      </p:sp>
      <p:sp>
        <p:nvSpPr>
          <p:cNvPr id="20" name="Text 12"/>
          <p:cNvSpPr/>
          <p:nvPr/>
        </p:nvSpPr>
        <p:spPr>
          <a:xfrm>
            <a:off x="9864090" y="3824168"/>
            <a:ext cx="3832265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Linda Shalini T (Co Lead 2)</a:t>
            </a:r>
            <a:endParaRPr lang="en-US" sz="1600" dirty="0"/>
          </a:p>
        </p:txBody>
      </p:sp>
      <p:sp>
        <p:nvSpPr>
          <p:cNvPr id="21" name="Shape 13"/>
          <p:cNvSpPr/>
          <p:nvPr/>
        </p:nvSpPr>
        <p:spPr>
          <a:xfrm>
            <a:off x="720447" y="5025628"/>
            <a:ext cx="6491764" cy="2477572"/>
          </a:xfrm>
          <a:prstGeom prst="roundRect">
            <a:avLst>
              <a:gd name="adj" fmla="val 12463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3926" y="5239107"/>
            <a:ext cx="617577" cy="617577"/>
          </a:xfrm>
          <a:prstGeom prst="rect">
            <a:avLst/>
          </a:prstGeom>
        </p:spPr>
      </p:pic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03709" y="5408890"/>
            <a:ext cx="277892" cy="277892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933926" y="6062543"/>
            <a:ext cx="2635091" cy="32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Project Presentation</a:t>
            </a:r>
            <a:endParaRPr lang="en-US" sz="2000" dirty="0"/>
          </a:p>
        </p:txBody>
      </p:sp>
      <p:sp>
        <p:nvSpPr>
          <p:cNvPr id="25" name="Text 15"/>
          <p:cNvSpPr/>
          <p:nvPr/>
        </p:nvSpPr>
        <p:spPr>
          <a:xfrm>
            <a:off x="933926" y="6507599"/>
            <a:ext cx="6064806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Siddhesh Mali (Co Lead)</a:t>
            </a:r>
            <a:endParaRPr lang="en-US" sz="1600" dirty="0"/>
          </a:p>
        </p:txBody>
      </p:sp>
      <p:sp>
        <p:nvSpPr>
          <p:cNvPr id="26" name="Text 16"/>
          <p:cNvSpPr/>
          <p:nvPr/>
        </p:nvSpPr>
        <p:spPr>
          <a:xfrm>
            <a:off x="933926" y="6960394"/>
            <a:ext cx="6064806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Himanshu Shakya</a:t>
            </a:r>
            <a:endParaRPr lang="en-US" sz="1600" dirty="0"/>
          </a:p>
        </p:txBody>
      </p:sp>
      <p:sp>
        <p:nvSpPr>
          <p:cNvPr id="27" name="Shape 17"/>
          <p:cNvSpPr/>
          <p:nvPr/>
        </p:nvSpPr>
        <p:spPr>
          <a:xfrm>
            <a:off x="7418070" y="5025628"/>
            <a:ext cx="6491764" cy="2477572"/>
          </a:xfrm>
          <a:prstGeom prst="roundRect">
            <a:avLst>
              <a:gd name="adj" fmla="val 12463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31549" y="5239107"/>
            <a:ext cx="617577" cy="617577"/>
          </a:xfrm>
          <a:prstGeom prst="rect">
            <a:avLst/>
          </a:prstGeom>
        </p:spPr>
      </p:pic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801332" y="5408890"/>
            <a:ext cx="277892" cy="277892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7631549" y="6062543"/>
            <a:ext cx="2573179" cy="32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Project Report </a:t>
            </a:r>
            <a:endParaRPr lang="en-US" sz="2000" dirty="0"/>
          </a:p>
        </p:txBody>
      </p:sp>
      <p:sp>
        <p:nvSpPr>
          <p:cNvPr id="31" name="Text 19"/>
          <p:cNvSpPr/>
          <p:nvPr/>
        </p:nvSpPr>
        <p:spPr>
          <a:xfrm>
            <a:off x="7631549" y="6507599"/>
            <a:ext cx="6064806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Anand Raj (Team Lead)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150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6933"/>
            <a:ext cx="14630400" cy="8231505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76526" y="610195"/>
            <a:ext cx="7553563" cy="693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Project Aim and Objectives</a:t>
            </a:r>
            <a:endParaRPr lang="en-US" sz="4350" dirty="0"/>
          </a:p>
        </p:txBody>
      </p:sp>
      <p:sp>
        <p:nvSpPr>
          <p:cNvPr id="5" name="Shape 2"/>
          <p:cNvSpPr/>
          <p:nvPr/>
        </p:nvSpPr>
        <p:spPr>
          <a:xfrm>
            <a:off x="776526" y="1636276"/>
            <a:ext cx="887492" cy="1633538"/>
          </a:xfrm>
          <a:prstGeom prst="roundRect">
            <a:avLst>
              <a:gd name="adj" fmla="val 360039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3822" y="2286595"/>
            <a:ext cx="332780" cy="3327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885831" y="1858089"/>
            <a:ext cx="277368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Project Aim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1885831" y="2337911"/>
            <a:ext cx="11968043" cy="710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 extract, clean, and analyze used car data from Cars24.com, focusing on Mumbai-based Hyundai listings. This will develop practical skills in web scraping, data processing, and Python analysis.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776526" y="3491627"/>
            <a:ext cx="887492" cy="2576513"/>
          </a:xfrm>
          <a:prstGeom prst="roundRect">
            <a:avLst>
              <a:gd name="adj" fmla="val 360039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3822" y="4613434"/>
            <a:ext cx="332780" cy="3327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885831" y="3713440"/>
            <a:ext cx="277368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Key Objectives</a:t>
            </a:r>
            <a:endParaRPr lang="en-US" sz="2150" dirty="0"/>
          </a:p>
        </p:txBody>
      </p:sp>
      <p:sp>
        <p:nvSpPr>
          <p:cNvPr id="12" name="Text 7"/>
          <p:cNvSpPr/>
          <p:nvPr/>
        </p:nvSpPr>
        <p:spPr>
          <a:xfrm>
            <a:off x="1885831" y="4193262"/>
            <a:ext cx="11968043" cy="35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Scrape key car details (Year, Kilometers, Fuel, Transmission, Price).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1885831" y="4625935"/>
            <a:ext cx="11968043" cy="35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Organize and clean data into a structured CSV format.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1885831" y="5058608"/>
            <a:ext cx="11968043" cy="35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Analyze and visualize data to derive market insights.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885831" y="5491282"/>
            <a:ext cx="11968043" cy="35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Present findings via Python Notebook, Report, and Presentation.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776526" y="6289953"/>
            <a:ext cx="887492" cy="1331357"/>
          </a:xfrm>
          <a:prstGeom prst="roundRect">
            <a:avLst>
              <a:gd name="adj" fmla="val 360039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3822" y="6789182"/>
            <a:ext cx="332780" cy="3327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885831" y="6511766"/>
            <a:ext cx="277368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Scope &amp; Coverage</a:t>
            </a:r>
            <a:endParaRPr lang="en-US" sz="2150" dirty="0"/>
          </a:p>
        </p:txBody>
      </p:sp>
      <p:sp>
        <p:nvSpPr>
          <p:cNvPr id="19" name="Text 13"/>
          <p:cNvSpPr/>
          <p:nvPr/>
        </p:nvSpPr>
        <p:spPr>
          <a:xfrm>
            <a:off x="1885831" y="6991588"/>
            <a:ext cx="11968043" cy="35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Target Website: Cars24.com. Brand: Hyundai. Primary Location: Mumbai. 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0929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Technology Stack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171700"/>
            <a:ext cx="6407944" cy="2592348"/>
          </a:xfrm>
          <a:prstGeom prst="roundRect">
            <a:avLst>
              <a:gd name="adj" fmla="val 13125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224" y="2406134"/>
            <a:ext cx="680442" cy="680442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15390" y="2593181"/>
            <a:ext cx="306110" cy="30611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28224" y="331339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Web Automation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028224" y="3803809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Selenium WebDriver with ChromeDriver for dynamic page scraping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7428548" y="2171700"/>
            <a:ext cx="6408063" cy="2592348"/>
          </a:xfrm>
          <a:prstGeom prst="roundRect">
            <a:avLst>
              <a:gd name="adj" fmla="val 13125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2982" y="2406134"/>
            <a:ext cx="680442" cy="680442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50148" y="2593181"/>
            <a:ext cx="306110" cy="30611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62982" y="331339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Data Processing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662982" y="3803809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Pandas for manipulation, Regex for text parsing, CSV for storage</a:t>
            </a:r>
            <a:endParaRPr lang="en-US" sz="1750" dirty="0"/>
          </a:p>
        </p:txBody>
      </p:sp>
      <p:sp>
        <p:nvSpPr>
          <p:cNvPr id="13" name="Shape 7"/>
          <p:cNvSpPr/>
          <p:nvPr/>
        </p:nvSpPr>
        <p:spPr>
          <a:xfrm>
            <a:off x="793790" y="4990862"/>
            <a:ext cx="6407944" cy="2229445"/>
          </a:xfrm>
          <a:prstGeom prst="roundRect">
            <a:avLst>
              <a:gd name="adj" fmla="val 15261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8224" y="5225296"/>
            <a:ext cx="680442" cy="680442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15390" y="5412343"/>
            <a:ext cx="306110" cy="30611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028224" y="61325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Visualisation</a:t>
            </a:r>
            <a:endParaRPr lang="en-US" sz="2200" dirty="0"/>
          </a:p>
        </p:txBody>
      </p:sp>
      <p:sp>
        <p:nvSpPr>
          <p:cNvPr id="17" name="Text 9"/>
          <p:cNvSpPr/>
          <p:nvPr/>
        </p:nvSpPr>
        <p:spPr>
          <a:xfrm>
            <a:off x="1028224" y="6622971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Matplotlib and Seaborn for statistical graphics</a:t>
            </a:r>
            <a:endParaRPr lang="en-US" sz="1750" dirty="0"/>
          </a:p>
        </p:txBody>
      </p:sp>
      <p:sp>
        <p:nvSpPr>
          <p:cNvPr id="18" name="Shape 10"/>
          <p:cNvSpPr/>
          <p:nvPr/>
        </p:nvSpPr>
        <p:spPr>
          <a:xfrm>
            <a:off x="7428548" y="4990862"/>
            <a:ext cx="6408063" cy="2229445"/>
          </a:xfrm>
          <a:prstGeom prst="roundRect">
            <a:avLst>
              <a:gd name="adj" fmla="val 15261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62982" y="5225296"/>
            <a:ext cx="680442" cy="680442"/>
          </a:xfrm>
          <a:prstGeom prst="rect">
            <a:avLst/>
          </a:prstGeom>
        </p:spPr>
      </p:pic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850148" y="5412343"/>
            <a:ext cx="306110" cy="30611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7662982" y="61325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Environment</a:t>
            </a:r>
            <a:endParaRPr lang="en-US" sz="2200" dirty="0"/>
          </a:p>
        </p:txBody>
      </p:sp>
      <p:sp>
        <p:nvSpPr>
          <p:cNvPr id="22" name="Text 12"/>
          <p:cNvSpPr/>
          <p:nvPr/>
        </p:nvSpPr>
        <p:spPr>
          <a:xfrm>
            <a:off x="7662982" y="6622971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Google Colab and Jupyter Notebooks for development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4973" y="740450"/>
            <a:ext cx="7324606" cy="656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Web Scraping Methodology</a:t>
            </a:r>
            <a:endParaRPr lang="en-US" sz="4100" dirty="0"/>
          </a:p>
        </p:txBody>
      </p:sp>
      <p:sp>
        <p:nvSpPr>
          <p:cNvPr id="4" name="Text 1"/>
          <p:cNvSpPr/>
          <p:nvPr/>
        </p:nvSpPr>
        <p:spPr>
          <a:xfrm>
            <a:off x="734973" y="1711642"/>
            <a:ext cx="209907" cy="262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5B6E8C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01</a:t>
            </a:r>
            <a:endParaRPr lang="en-US" sz="16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973" y="2045494"/>
            <a:ext cx="3732014" cy="228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34973" y="2196108"/>
            <a:ext cx="2998946" cy="328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Automated Navigation</a:t>
            </a:r>
            <a:endParaRPr lang="en-US" sz="2050" dirty="0"/>
          </a:p>
        </p:txBody>
      </p:sp>
      <p:sp>
        <p:nvSpPr>
          <p:cNvPr id="7" name="Text 3"/>
          <p:cNvSpPr/>
          <p:nvPr/>
        </p:nvSpPr>
        <p:spPr>
          <a:xfrm>
            <a:off x="734973" y="2650212"/>
            <a:ext cx="3732014" cy="1007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Selenium controlled browser instances to traverse Cars24 listing pages systematically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4676894" y="1711642"/>
            <a:ext cx="209907" cy="262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5B6E8C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02</a:t>
            </a:r>
            <a:endParaRPr lang="en-US" sz="16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6894" y="2045494"/>
            <a:ext cx="3732133" cy="228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76894" y="2196108"/>
            <a:ext cx="2625209" cy="328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Data Extraction</a:t>
            </a:r>
            <a:endParaRPr lang="en-US" sz="2050" dirty="0"/>
          </a:p>
        </p:txBody>
      </p:sp>
      <p:sp>
        <p:nvSpPr>
          <p:cNvPr id="11" name="Text 6"/>
          <p:cNvSpPr/>
          <p:nvPr/>
        </p:nvSpPr>
        <p:spPr>
          <a:xfrm>
            <a:off x="4676894" y="2650212"/>
            <a:ext cx="3732133" cy="1007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Captured key attributes: Car Name, Year, Kilometres, Fuel Type, Transmission, Price, </a:t>
            </a:r>
            <a:endParaRPr lang="en-US" sz="1650" dirty="0"/>
          </a:p>
        </p:txBody>
      </p:sp>
      <p:sp>
        <p:nvSpPr>
          <p:cNvPr id="12" name="Text 7"/>
          <p:cNvSpPr/>
          <p:nvPr/>
        </p:nvSpPr>
        <p:spPr>
          <a:xfrm>
            <a:off x="734973" y="4025503"/>
            <a:ext cx="209907" cy="262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5B6E8C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03</a:t>
            </a:r>
            <a:endParaRPr lang="en-US" sz="16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973" y="4338399"/>
            <a:ext cx="7674054" cy="228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34973" y="4509968"/>
            <a:ext cx="2717125" cy="328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Pagination Handling</a:t>
            </a:r>
            <a:endParaRPr lang="en-US" sz="2050" dirty="0"/>
          </a:p>
        </p:txBody>
      </p:sp>
      <p:sp>
        <p:nvSpPr>
          <p:cNvPr id="15" name="Text 9"/>
          <p:cNvSpPr/>
          <p:nvPr/>
        </p:nvSpPr>
        <p:spPr>
          <a:xfrm>
            <a:off x="734973" y="4964073"/>
            <a:ext cx="7674054" cy="671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Implemented robust logic to navigate through multiple pages whilst managing dynamic content loading</a:t>
            </a:r>
            <a:endParaRPr lang="en-US" sz="1650" dirty="0"/>
          </a:p>
        </p:txBody>
      </p:sp>
      <p:sp>
        <p:nvSpPr>
          <p:cNvPr id="16" name="Text 10"/>
          <p:cNvSpPr/>
          <p:nvPr/>
        </p:nvSpPr>
        <p:spPr>
          <a:xfrm>
            <a:off x="734973" y="6108383"/>
            <a:ext cx="3321487" cy="39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Technical Challenges</a:t>
            </a:r>
            <a:endParaRPr lang="en-US" sz="2450" dirty="0"/>
          </a:p>
        </p:txBody>
      </p:sp>
      <p:sp>
        <p:nvSpPr>
          <p:cNvPr id="17" name="Text 11"/>
          <p:cNvSpPr/>
          <p:nvPr/>
        </p:nvSpPr>
        <p:spPr>
          <a:xfrm>
            <a:off x="734973" y="6817043"/>
            <a:ext cx="7674054" cy="671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Overcame issues with dynamically loaded content, fragile CSS selectors, and inconsistent page structures across city-specific listings.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0095" y="597218"/>
            <a:ext cx="7713345" cy="678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Data Cleaning &amp; Preparation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760095" y="1818799"/>
            <a:ext cx="3340060" cy="407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Cleaning Operations</a:t>
            </a:r>
            <a:endParaRPr lang="en-US" sz="2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095" y="2585680"/>
            <a:ext cx="108585" cy="10858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85850" y="2470309"/>
            <a:ext cx="2714625" cy="339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Duplicate Removal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085850" y="3026807"/>
            <a:ext cx="5964436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Identified and eliminated redundant entries</a:t>
            </a:r>
            <a:endParaRPr lang="en-US" sz="17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095" y="3923943"/>
            <a:ext cx="108585" cy="10858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85850" y="3808571"/>
            <a:ext cx="2714625" cy="339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Type Conversion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1085850" y="4365069"/>
            <a:ext cx="5964436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Standardised numeric and categorical fields</a:t>
            </a:r>
            <a:endParaRPr lang="en-US" sz="17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095" y="5262205"/>
            <a:ext cx="108585" cy="10858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85850" y="5146834"/>
            <a:ext cx="2714625" cy="339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Missing Values</a:t>
            </a:r>
            <a:endParaRPr lang="en-US" sz="2100" dirty="0"/>
          </a:p>
        </p:txBody>
      </p:sp>
      <p:sp>
        <p:nvSpPr>
          <p:cNvPr id="12" name="Text 7"/>
          <p:cNvSpPr/>
          <p:nvPr/>
        </p:nvSpPr>
        <p:spPr>
          <a:xfrm>
            <a:off x="1085850" y="5703332"/>
            <a:ext cx="5964436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Applied appropriate imputation strategies</a:t>
            </a:r>
            <a:endParaRPr lang="en-US" sz="17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095" y="6600468"/>
            <a:ext cx="108585" cy="10858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85850" y="6485096"/>
            <a:ext cx="3246715" cy="339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Categorical Consistency</a:t>
            </a:r>
            <a:endParaRPr lang="en-US" sz="2100" dirty="0"/>
          </a:p>
        </p:txBody>
      </p:sp>
      <p:sp>
        <p:nvSpPr>
          <p:cNvPr id="15" name="Text 9"/>
          <p:cNvSpPr/>
          <p:nvPr/>
        </p:nvSpPr>
        <p:spPr>
          <a:xfrm>
            <a:off x="1085850" y="7041594"/>
            <a:ext cx="5964436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Normalised fuel types and transmission values</a:t>
            </a:r>
            <a:endParaRPr lang="en-US" sz="1700" dirty="0"/>
          </a:p>
        </p:txBody>
      </p:sp>
      <p:sp>
        <p:nvSpPr>
          <p:cNvPr id="16" name="Text 10"/>
          <p:cNvSpPr/>
          <p:nvPr/>
        </p:nvSpPr>
        <p:spPr>
          <a:xfrm>
            <a:off x="7587734" y="1818799"/>
            <a:ext cx="3257550" cy="407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Derived Features</a:t>
            </a:r>
            <a:endParaRPr lang="en-US" sz="2550" dirty="0"/>
          </a:p>
        </p:txBody>
      </p:sp>
      <p:sp>
        <p:nvSpPr>
          <p:cNvPr id="17" name="Shape 11"/>
          <p:cNvSpPr/>
          <p:nvPr/>
        </p:nvSpPr>
        <p:spPr>
          <a:xfrm>
            <a:off x="7587734" y="2470309"/>
            <a:ext cx="6290191" cy="1465659"/>
          </a:xfrm>
          <a:prstGeom prst="roundRect">
            <a:avLst>
              <a:gd name="adj" fmla="val 22226"/>
            </a:avLst>
          </a:prstGeom>
          <a:solidFill>
            <a:srgbClr val="B3E7FE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4904" y="2803208"/>
            <a:ext cx="271463" cy="21717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293537" y="2741771"/>
            <a:ext cx="5367218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Car_Age</a:t>
            </a:r>
            <a:r>
              <a:rPr lang="en-US" sz="17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= 2025 − Year</a:t>
            </a:r>
            <a:endParaRPr lang="en-US" sz="1700" dirty="0"/>
          </a:p>
        </p:txBody>
      </p:sp>
      <p:sp>
        <p:nvSpPr>
          <p:cNvPr id="20" name="Text 13"/>
          <p:cNvSpPr/>
          <p:nvPr/>
        </p:nvSpPr>
        <p:spPr>
          <a:xfrm>
            <a:off x="8293537" y="3284577"/>
            <a:ext cx="5367218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Price_per_Km</a:t>
            </a:r>
            <a:r>
              <a:rPr lang="en-US" sz="17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= Price ÷ Kilometres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7587734" y="4180284"/>
            <a:ext cx="6290191" cy="1042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These engineered features enabled more sophisticated analysis of depreciation patterns and value metrics across the dataset.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95392" y="514826"/>
            <a:ext cx="4287560" cy="454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Feature Transformation</a:t>
            </a:r>
            <a:endParaRPr lang="en-US" sz="2850" dirty="0"/>
          </a:p>
        </p:txBody>
      </p:sp>
      <p:sp>
        <p:nvSpPr>
          <p:cNvPr id="4" name="Text 1"/>
          <p:cNvSpPr/>
          <p:nvPr/>
        </p:nvSpPr>
        <p:spPr>
          <a:xfrm>
            <a:off x="5995392" y="1187410"/>
            <a:ext cx="8126016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Transformed raw scraped data into analysis-ready features for deeper insight into pricing and usage </a:t>
            </a:r>
          </a:p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patterns.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995392" y="1801654"/>
            <a:ext cx="3990261" cy="1303496"/>
          </a:xfrm>
          <a:prstGeom prst="roundRect">
            <a:avLst>
              <a:gd name="adj" fmla="val 5612"/>
            </a:avLst>
          </a:prstGeom>
          <a:solidFill>
            <a:srgbClr val="FFFFFF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5392" y="1786414"/>
            <a:ext cx="3990261" cy="60960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1583531"/>
            <a:ext cx="436245" cy="43624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903250" y="1692593"/>
            <a:ext cx="174427" cy="218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1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6156007" y="2165152"/>
            <a:ext cx="1817846" cy="227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Cleaned Car Name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6156007" y="2479477"/>
            <a:ext cx="3669030" cy="465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Removed year prefixes (e.g., 2016 Honda City → Honda City) for consistent brand and model grouping.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10131028" y="1801654"/>
            <a:ext cx="3990380" cy="1303496"/>
          </a:xfrm>
          <a:prstGeom prst="roundRect">
            <a:avLst>
              <a:gd name="adj" fmla="val 5612"/>
            </a:avLst>
          </a:prstGeom>
          <a:solidFill>
            <a:srgbClr val="FFFFFF"/>
          </a:solidFill>
          <a:ln/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1028" y="1786414"/>
            <a:ext cx="3990380" cy="60960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08036" y="1583531"/>
            <a:ext cx="436245" cy="43624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2038886" y="1692593"/>
            <a:ext cx="174427" cy="218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2</a:t>
            </a:r>
            <a:endParaRPr lang="en-US" sz="1350" dirty="0"/>
          </a:p>
        </p:txBody>
      </p:sp>
      <p:sp>
        <p:nvSpPr>
          <p:cNvPr id="15" name="Text 8"/>
          <p:cNvSpPr/>
          <p:nvPr/>
        </p:nvSpPr>
        <p:spPr>
          <a:xfrm>
            <a:off x="10291643" y="2165152"/>
            <a:ext cx="2899053" cy="227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Standardised Kilometers Driven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10291643" y="2479477"/>
            <a:ext cx="3669149" cy="465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Converted all formats (e.g., “25k km”, “2.5L km”) into integer kilometers for accurate numeric comparison.</a:t>
            </a:r>
            <a:endParaRPr lang="en-US" sz="1400" dirty="0"/>
          </a:p>
        </p:txBody>
      </p:sp>
      <p:sp>
        <p:nvSpPr>
          <p:cNvPr id="17" name="Shape 10"/>
          <p:cNvSpPr/>
          <p:nvPr/>
        </p:nvSpPr>
        <p:spPr>
          <a:xfrm>
            <a:off x="5995392" y="3468648"/>
            <a:ext cx="3990261" cy="1303496"/>
          </a:xfrm>
          <a:prstGeom prst="roundRect">
            <a:avLst>
              <a:gd name="adj" fmla="val 5612"/>
            </a:avLst>
          </a:prstGeom>
          <a:solidFill>
            <a:srgbClr val="FFFFFF"/>
          </a:solidFill>
          <a:ln/>
        </p:spPr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5392" y="3453408"/>
            <a:ext cx="3990261" cy="60960"/>
          </a:xfrm>
          <a:prstGeom prst="rect">
            <a:avLst/>
          </a:prstGeom>
        </p:spPr>
      </p:pic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3250525"/>
            <a:ext cx="436245" cy="436245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7903250" y="3359587"/>
            <a:ext cx="174427" cy="218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3</a:t>
            </a:r>
            <a:endParaRPr lang="en-US" sz="1350" dirty="0"/>
          </a:p>
        </p:txBody>
      </p:sp>
      <p:sp>
        <p:nvSpPr>
          <p:cNvPr id="21" name="Text 12"/>
          <p:cNvSpPr/>
          <p:nvPr/>
        </p:nvSpPr>
        <p:spPr>
          <a:xfrm>
            <a:off x="6156007" y="3832146"/>
            <a:ext cx="2064187" cy="227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Normalized Price (INR)</a:t>
            </a:r>
            <a:endParaRPr lang="en-US" sz="1600" dirty="0"/>
          </a:p>
        </p:txBody>
      </p:sp>
      <p:sp>
        <p:nvSpPr>
          <p:cNvPr id="22" name="Text 13"/>
          <p:cNvSpPr/>
          <p:nvPr/>
        </p:nvSpPr>
        <p:spPr>
          <a:xfrm>
            <a:off x="6156007" y="4146471"/>
            <a:ext cx="3669030" cy="465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Removed currency symbols and standardised ₹, lakh, crore values into a uniform INR scale.</a:t>
            </a:r>
            <a:endParaRPr lang="en-US" sz="1400" dirty="0"/>
          </a:p>
        </p:txBody>
      </p:sp>
      <p:sp>
        <p:nvSpPr>
          <p:cNvPr id="23" name="Shape 14"/>
          <p:cNvSpPr/>
          <p:nvPr/>
        </p:nvSpPr>
        <p:spPr>
          <a:xfrm>
            <a:off x="10131028" y="3468648"/>
            <a:ext cx="3990380" cy="1303496"/>
          </a:xfrm>
          <a:prstGeom prst="roundRect">
            <a:avLst>
              <a:gd name="adj" fmla="val 5612"/>
            </a:avLst>
          </a:prstGeom>
          <a:solidFill>
            <a:srgbClr val="FFFFFF"/>
          </a:solidFill>
          <a:ln/>
        </p:spPr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1028" y="3453408"/>
            <a:ext cx="3990380" cy="60960"/>
          </a:xfrm>
          <a:prstGeom prst="rect">
            <a:avLst/>
          </a:prstGeom>
        </p:spPr>
      </p:pic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08036" y="3250525"/>
            <a:ext cx="436245" cy="436245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12038886" y="3359587"/>
            <a:ext cx="174427" cy="218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4</a:t>
            </a:r>
            <a:endParaRPr lang="en-US" sz="1350" dirty="0"/>
          </a:p>
        </p:txBody>
      </p:sp>
      <p:sp>
        <p:nvSpPr>
          <p:cNvPr id="27" name="Text 16"/>
          <p:cNvSpPr/>
          <p:nvPr/>
        </p:nvSpPr>
        <p:spPr>
          <a:xfrm>
            <a:off x="10291643" y="3832146"/>
            <a:ext cx="1817846" cy="227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Derived Car Age</a:t>
            </a:r>
            <a:endParaRPr lang="en-US" sz="1600" dirty="0"/>
          </a:p>
        </p:txBody>
      </p:sp>
      <p:sp>
        <p:nvSpPr>
          <p:cNvPr id="28" name="Text 17"/>
          <p:cNvSpPr/>
          <p:nvPr/>
        </p:nvSpPr>
        <p:spPr>
          <a:xfrm>
            <a:off x="10291643" y="4146471"/>
            <a:ext cx="3669149" cy="465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Calculated as </a:t>
            </a:r>
            <a:r>
              <a:rPr lang="en-US" sz="1400" dirty="0">
                <a:solidFill>
                  <a:srgbClr val="5B6E8C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2025 - Year</a:t>
            </a:r>
            <a:r>
              <a:rPr lang="en-US" sz="1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to capture depreciation effects and support price–age relationship analysis.</a:t>
            </a:r>
            <a:endParaRPr lang="en-US" sz="1400" dirty="0"/>
          </a:p>
        </p:txBody>
      </p:sp>
      <p:sp>
        <p:nvSpPr>
          <p:cNvPr id="29" name="Shape 18"/>
          <p:cNvSpPr/>
          <p:nvPr/>
        </p:nvSpPr>
        <p:spPr>
          <a:xfrm>
            <a:off x="5995392" y="5135642"/>
            <a:ext cx="8126016" cy="1070967"/>
          </a:xfrm>
          <a:prstGeom prst="roundRect">
            <a:avLst>
              <a:gd name="adj" fmla="val 6830"/>
            </a:avLst>
          </a:prstGeom>
          <a:solidFill>
            <a:srgbClr val="FFFFFF"/>
          </a:solidFill>
          <a:ln/>
        </p:spPr>
      </p:sp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5392" y="5120402"/>
            <a:ext cx="8126016" cy="60960"/>
          </a:xfrm>
          <a:prstGeom prst="rect">
            <a:avLst/>
          </a:prstGeom>
        </p:spPr>
      </p:pic>
      <p:pic>
        <p:nvPicPr>
          <p:cNvPr id="31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0277" y="4917519"/>
            <a:ext cx="436245" cy="436245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9971127" y="5026581"/>
            <a:ext cx="174427" cy="218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5</a:t>
            </a:r>
            <a:endParaRPr lang="en-US" sz="1350" dirty="0"/>
          </a:p>
        </p:txBody>
      </p:sp>
      <p:sp>
        <p:nvSpPr>
          <p:cNvPr id="33" name="Text 20"/>
          <p:cNvSpPr/>
          <p:nvPr/>
        </p:nvSpPr>
        <p:spPr>
          <a:xfrm>
            <a:off x="6156007" y="5499140"/>
            <a:ext cx="2533412" cy="227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Created Price per Kilometer</a:t>
            </a:r>
            <a:endParaRPr lang="en-US" dirty="0"/>
          </a:p>
        </p:txBody>
      </p:sp>
      <p:sp>
        <p:nvSpPr>
          <p:cNvPr id="34" name="Text 21"/>
          <p:cNvSpPr/>
          <p:nvPr/>
        </p:nvSpPr>
        <p:spPr>
          <a:xfrm>
            <a:off x="6156007" y="5813465"/>
            <a:ext cx="7804785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Derived from </a:t>
            </a:r>
            <a:r>
              <a:rPr lang="en-US" sz="1400" dirty="0">
                <a:solidFill>
                  <a:srgbClr val="5B6E8C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Price(INR) / Kilometers_Driven</a:t>
            </a:r>
            <a:r>
              <a:rPr lang="en-US" sz="1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to identify value efficiency and pricing</a:t>
            </a:r>
          </a:p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anomalies.</a:t>
            </a:r>
            <a:endParaRPr lang="en-US" sz="1400" dirty="0"/>
          </a:p>
        </p:txBody>
      </p:sp>
      <p:sp>
        <p:nvSpPr>
          <p:cNvPr id="35" name="Text 22"/>
          <p:cNvSpPr/>
          <p:nvPr/>
        </p:nvSpPr>
        <p:spPr>
          <a:xfrm>
            <a:off x="5995392" y="6424732"/>
            <a:ext cx="2181344" cy="272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Outcome</a:t>
            </a:r>
            <a:endParaRPr lang="en-US" sz="1700" dirty="0"/>
          </a:p>
        </p:txBody>
      </p:sp>
      <p:sp>
        <p:nvSpPr>
          <p:cNvPr id="36" name="Text 23"/>
          <p:cNvSpPr/>
          <p:nvPr/>
        </p:nvSpPr>
        <p:spPr>
          <a:xfrm>
            <a:off x="5995392" y="6915507"/>
            <a:ext cx="8126016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Ensured uniform numeric types for robust modeling and visualization.</a:t>
            </a:r>
            <a:endParaRPr lang="en-US" sz="1400" dirty="0"/>
          </a:p>
        </p:txBody>
      </p:sp>
      <p:sp>
        <p:nvSpPr>
          <p:cNvPr id="37" name="Text 24"/>
          <p:cNvSpPr/>
          <p:nvPr/>
        </p:nvSpPr>
        <p:spPr>
          <a:xfrm>
            <a:off x="5995392" y="7198876"/>
            <a:ext cx="8126016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Enabled comparative insights between car brands, fuel types, and usage patterns.</a:t>
            </a:r>
            <a:endParaRPr lang="en-US" sz="1400" dirty="0"/>
          </a:p>
        </p:txBody>
      </p:sp>
      <p:sp>
        <p:nvSpPr>
          <p:cNvPr id="38" name="Text 25"/>
          <p:cNvSpPr/>
          <p:nvPr/>
        </p:nvSpPr>
        <p:spPr>
          <a:xfrm>
            <a:off x="5995392" y="7482245"/>
            <a:ext cx="8126016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Prepared data effectively for advanced statistical analysis and machine learning models.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73192"/>
            <a:ext cx="727436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Exploratory Data Analysis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048947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Univariate Analysis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270105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Price distribution showed right-skewed pattern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14325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Car age concentrated in 3–7 year range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358544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Kilometre readings varied widely across listings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175165"/>
            <a:ext cx="3906083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Bivariate Relationships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793790" y="482727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Strong negative correlation between price and vehicle age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5632371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Inverse relationship between kilometres driven and valuation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643747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Transmission type significantly influenced pricing</a:t>
            </a:r>
            <a:endParaRPr lang="en-US" sz="17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9521" y="2077283"/>
            <a:ext cx="6244709" cy="3831193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599521" y="6163628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Correlation matrix revealed strongest predictive relationships, with age and mileage showing the highest negative correlation with price.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95720"/>
            <a:ext cx="672095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Visualisation Highlights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1" y="22449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Price Distribution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781578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Right-skewed histogram indicating concentration in mid-range segment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116" y="3912989"/>
            <a:ext cx="4607003" cy="33208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3790" y="6509742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235893" y="21824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Fuel Type Analysis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235892" y="2713964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Countplots revealed petrol dominance in the used car market</a:t>
            </a:r>
            <a:endParaRPr lang="en-US" sz="17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3912988"/>
            <a:ext cx="4158615" cy="332088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77995" y="22449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Price vs Kilometres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9677994" y="2713963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Scatterplot demonstrated depreciation with increased mileage by fuel type</a:t>
            </a:r>
            <a:endParaRPr lang="en-US" sz="17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7995" y="3912989"/>
            <a:ext cx="4158615" cy="332089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485703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22935" y="489466"/>
            <a:ext cx="7020163" cy="556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Deeper Dive into Market Trends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622935" y="1490663"/>
            <a:ext cx="2966085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Average Price by Fuel Type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622935" y="1946791"/>
            <a:ext cx="6475214" cy="1423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Diesel cars command the highest average prices (~₹6 lakh), reflecting their long-distance efficiency and perceived market value. Petrol models follow at ₹4–4.5 lakh, while CNG cars are the most affordable, catering to budget-conscious and eco-friendly buyers. This indicates fuel type is a strong predictor in pricing models.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35" y="3570923"/>
            <a:ext cx="6107787" cy="422517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39871" y="1490663"/>
            <a:ext cx="3346847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Count of Cars by Transmission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539871" y="1946791"/>
            <a:ext cx="6475214" cy="1423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Manual transmission vehicles dominate the market with listings three times higher than automatics, suggesting a strong preference among budget-oriented consumers. Automatic cars form a smaller, premium segment, appealing to urban users prioritising comfort. Transmission type significantly influences both market availability and demand.</a:t>
            </a:r>
            <a:endParaRPr lang="en-US" sz="14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9871" y="3570923"/>
            <a:ext cx="6475214" cy="416921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7790" y="328255"/>
            <a:ext cx="8582025" cy="373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Automobile Sales Trends &amp; Insights (Power BI Dashboard)</a:t>
            </a:r>
            <a:endParaRPr lang="en-US" sz="2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965" y="844272"/>
            <a:ext cx="9364133" cy="40876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7790" y="5066228"/>
            <a:ext cx="3076099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Key Observations from Dashboard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17790" y="5409367"/>
            <a:ext cx="6751796" cy="38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40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Price vs Kilometers Driven:</a:t>
            </a:r>
            <a:r>
              <a:rPr lang="en-US" sz="1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As kilometers increase, car prices decrease, confirming mileage as a strong negative predictor of resale value.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17790" y="5933058"/>
            <a:ext cx="6751796" cy="38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40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Transmission Trends:</a:t>
            </a:r>
            <a:r>
              <a:rPr lang="en-US" sz="1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Automatic cars dominate (870 units) compared to Manual (435), indicating a shift toward convenience-focused buyers. This suggests a changing market preference.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10171" y="6625287"/>
            <a:ext cx="6751796" cy="38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40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Fuel Type &amp; Price Patterns:</a:t>
            </a:r>
            <a:r>
              <a:rPr lang="en-US" sz="1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Diesel cars command the highest prices, followed by Petrol, while CNG remains the most budget-friendly. This confirms fuel type as a key factor in price modeling.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70415" y="7350801"/>
            <a:ext cx="6751796" cy="38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40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Yearly Price Trends:</a:t>
            </a:r>
            <a:r>
              <a:rPr lang="en-US" sz="1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Average and total prices show an upward trend from 2010–2020, reflecting market growth and rising consumer spending power.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468433" y="5054322"/>
            <a:ext cx="6751796" cy="190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468433" y="5364599"/>
            <a:ext cx="1790700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Strategic Insights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468433" y="5722739"/>
            <a:ext cx="6751796" cy="1761887"/>
          </a:xfrm>
          <a:prstGeom prst="roundRect">
            <a:avLst>
              <a:gd name="adj" fmla="val 10164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476053" y="5730359"/>
            <a:ext cx="6736556" cy="34932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3" name="Text 10"/>
          <p:cNvSpPr/>
          <p:nvPr/>
        </p:nvSpPr>
        <p:spPr>
          <a:xfrm>
            <a:off x="7595354" y="5809536"/>
            <a:ext cx="1104900" cy="190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Factor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946475" y="5809536"/>
            <a:ext cx="2448401" cy="190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Observation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1641098" y="5809536"/>
            <a:ext cx="2452211" cy="190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Impact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476053" y="6079688"/>
            <a:ext cx="6736556" cy="34932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7595354" y="6158865"/>
            <a:ext cx="1104900" cy="190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Mileage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946475" y="6158865"/>
            <a:ext cx="2448401" cy="190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Higher km → Lower price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1641098" y="6158865"/>
            <a:ext cx="2452211" cy="190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Use in depreciation modeling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476053" y="6429018"/>
            <a:ext cx="6736556" cy="34932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7595354" y="6508194"/>
            <a:ext cx="1104900" cy="190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Transmission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8946475" y="6508194"/>
            <a:ext cx="2448401" cy="190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Automatics rising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1641098" y="6508194"/>
            <a:ext cx="2452211" cy="190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Market demand shift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7476053" y="6778347"/>
            <a:ext cx="6736556" cy="34932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7595354" y="6857524"/>
            <a:ext cx="1104900" cy="190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Fuel Type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8946475" y="6857524"/>
            <a:ext cx="2448401" cy="190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Diesel premium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11641098" y="6857524"/>
            <a:ext cx="2452211" cy="190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Pricing &amp; eco-strategy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7476053" y="7127677"/>
            <a:ext cx="6736556" cy="34932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7595354" y="7206853"/>
            <a:ext cx="1104900" cy="190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6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Year Trend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8946475" y="7206853"/>
            <a:ext cx="2448401" cy="190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Rising prices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11641098" y="7206853"/>
            <a:ext cx="2452211" cy="190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Time-based forecasting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0218" y="620792"/>
            <a:ext cx="8721685" cy="705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Conclusion &amp; Future Directions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90218" y="1890713"/>
            <a:ext cx="4380309" cy="423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Project Accomplishments</a:t>
            </a:r>
            <a:endParaRPr lang="en-US" sz="2650" dirty="0"/>
          </a:p>
        </p:txBody>
      </p:sp>
      <p:sp>
        <p:nvSpPr>
          <p:cNvPr id="4" name="Shape 2"/>
          <p:cNvSpPr/>
          <p:nvPr/>
        </p:nvSpPr>
        <p:spPr>
          <a:xfrm>
            <a:off x="790218" y="2568059"/>
            <a:ext cx="507921" cy="507921"/>
          </a:xfrm>
          <a:prstGeom prst="roundRect">
            <a:avLst>
              <a:gd name="adj" fmla="val 66678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4871" y="2610386"/>
            <a:ext cx="338614" cy="423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523881" y="2645569"/>
            <a:ext cx="5515928" cy="705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Successfully scraped comprehensive vehicle data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90218" y="3802380"/>
            <a:ext cx="507921" cy="507921"/>
          </a:xfrm>
          <a:prstGeom prst="roundRect">
            <a:avLst>
              <a:gd name="adj" fmla="val 66678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4871" y="3844707"/>
            <a:ext cx="338614" cy="423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2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1523881" y="3879890"/>
            <a:ext cx="5515928" cy="705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Cleaned and engineered analytical features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90218" y="5036701"/>
            <a:ext cx="507921" cy="507921"/>
          </a:xfrm>
          <a:prstGeom prst="roundRect">
            <a:avLst>
              <a:gd name="adj" fmla="val 66678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4871" y="5079028"/>
            <a:ext cx="338614" cy="423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3</a:t>
            </a:r>
            <a:endParaRPr lang="en-US" sz="2650" dirty="0"/>
          </a:p>
        </p:txBody>
      </p:sp>
      <p:sp>
        <p:nvSpPr>
          <p:cNvPr id="12" name="Text 10"/>
          <p:cNvSpPr/>
          <p:nvPr/>
        </p:nvSpPr>
        <p:spPr>
          <a:xfrm>
            <a:off x="1523881" y="5114211"/>
            <a:ext cx="5344001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Generated actionable market insights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598212" y="1890713"/>
            <a:ext cx="3386733" cy="423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Next Steps</a:t>
            </a:r>
            <a:endParaRPr lang="en-US" sz="265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8212" y="2568059"/>
            <a:ext cx="1128832" cy="1391007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952786" y="2793802"/>
            <a:ext cx="2916555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Predictive Modelling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8952786" y="3372207"/>
            <a:ext cx="4895017" cy="361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Develop ML algorithms for price estimation</a:t>
            </a:r>
            <a:endParaRPr lang="en-US" sz="175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8212" y="3959066"/>
            <a:ext cx="1128832" cy="1391007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952786" y="4184809"/>
            <a:ext cx="3130868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Interactive Dashboard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8952786" y="4763214"/>
            <a:ext cx="4895017" cy="361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Create Power BI visualisation platform</a:t>
            </a:r>
            <a:endParaRPr lang="en-US" sz="175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8212" y="5350073"/>
            <a:ext cx="1128832" cy="139100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952786" y="5575816"/>
            <a:ext cx="2822258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API Integration</a:t>
            </a:r>
            <a:endParaRPr lang="en-US" sz="2200" dirty="0"/>
          </a:p>
        </p:txBody>
      </p:sp>
      <p:sp>
        <p:nvSpPr>
          <p:cNvPr id="22" name="Text 17"/>
          <p:cNvSpPr/>
          <p:nvPr/>
        </p:nvSpPr>
        <p:spPr>
          <a:xfrm>
            <a:off x="8952786" y="6154222"/>
            <a:ext cx="4895017" cy="361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Implement automated, scalable data collection</a:t>
            </a:r>
            <a:endParaRPr lang="en-US" sz="1750" dirty="0"/>
          </a:p>
        </p:txBody>
      </p:sp>
      <p:sp>
        <p:nvSpPr>
          <p:cNvPr id="23" name="Text 18"/>
          <p:cNvSpPr/>
          <p:nvPr/>
        </p:nvSpPr>
        <p:spPr>
          <a:xfrm>
            <a:off x="790218" y="7249001"/>
            <a:ext cx="13049964" cy="361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This project demonstrates the complete data science pipeline from raw data acquisition to meaningful business intelligence.</a:t>
            </a:r>
            <a:endParaRPr lang="en-US" sz="1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9828" y="3090162"/>
            <a:ext cx="6352077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Thank You!</a:t>
            </a:r>
            <a:endParaRPr lang="en-US" sz="8900" dirty="0"/>
          </a:p>
        </p:txBody>
      </p:sp>
      <p:sp>
        <p:nvSpPr>
          <p:cNvPr id="3" name="Text 1"/>
          <p:cNvSpPr/>
          <p:nvPr/>
        </p:nvSpPr>
        <p:spPr>
          <a:xfrm>
            <a:off x="793790" y="497010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 appreciate your time and interest in our Cars24 Used Car Price Analysis project. We hope our insights provide valuable understanding of the market dynamics.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93790" y="535947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1035</Words>
  <Application>Microsoft Office PowerPoint</Application>
  <PresentationFormat>Custom</PresentationFormat>
  <Paragraphs>161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Astro Astro</cp:lastModifiedBy>
  <cp:revision>5</cp:revision>
  <dcterms:created xsi:type="dcterms:W3CDTF">2025-10-21T09:13:32Z</dcterms:created>
  <dcterms:modified xsi:type="dcterms:W3CDTF">2025-10-22T09:20:13Z</dcterms:modified>
</cp:coreProperties>
</file>